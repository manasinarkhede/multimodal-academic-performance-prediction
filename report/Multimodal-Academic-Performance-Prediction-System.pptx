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</p:sldIdLst>
  <p:sldSz cx="9144000" cy="5143500" type="screen16x9"/>
  <p:notesSz cx="5143500" cy="91440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43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257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8769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Academic Performance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2926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Text, Tabular, and Behavioral Data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50964"/>
            <a:ext cx="4722763" cy="1056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3156421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Manasi Narkhede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(DS24M11)  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Savitribai Phule Pune University 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Mentor: Mr. Rithik Raj Vaishya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874"/>
            <a:ext cx="1115616" cy="214759"/>
          </a:xfrm>
          <a:prstGeom prst="roundRect">
            <a:avLst>
              <a:gd name="adj" fmla="val 1885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29964"/>
            <a:ext cx="142830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DEFINITION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9560"/>
            <a:ext cx="6323335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Challenge: Beyond GPA &amp; Attendance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9" y="2129061"/>
            <a:ext cx="39289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engagement is multidimensional — yet existing systems rely on single-dimensional indicators, lack explainability, and are not deployment-ready. Early identification of at-risk students remains a critical unmet need.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2957438"/>
            <a:ext cx="3928914" cy="819671"/>
          </a:xfrm>
          <a:prstGeom prst="roundRect">
            <a:avLst>
              <a:gd name="adj" fmla="val 6175"/>
            </a:avLst>
          </a:prstGeom>
          <a:solidFill>
            <a:srgbClr val="D9D9D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5" y="3131121"/>
            <a:ext cx="150614" cy="1204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7685" y="3089895"/>
            <a:ext cx="3416871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Research Question:</a:t>
            </a: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can tabular, behavioral, and textual data be combined into accurate and interpretable academic risk predictions?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730" y="1294879"/>
            <a:ext cx="3339554" cy="3339554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30" y="1294879"/>
            <a:ext cx="3339554" cy="3339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7692"/>
            <a:ext cx="586234" cy="198611"/>
          </a:xfrm>
          <a:prstGeom prst="roundRect">
            <a:avLst>
              <a:gd name="adj" fmla="val 19187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4133" y="501700"/>
            <a:ext cx="907405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702543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96119" y="1192932"/>
            <a:ext cx="8151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production-ready multimodal prediction platform combining three ML paradigms — XGBoost, LSTM, and Transformer/BERT — through late fusion ensemble architecture, with SHAP explainability and natural language explanations, deployed via React + FastAPI + PostgreSQL on AWS.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88" y="1621482"/>
            <a:ext cx="6467624" cy="27889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3416" y="3881555"/>
            <a:ext cx="1924473" cy="183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773416" y="3235955"/>
            <a:ext cx="1924473" cy="183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Late Fusion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773416" y="2596876"/>
            <a:ext cx="1924473" cy="183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Models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773416" y="1951275"/>
            <a:ext cx="1924473" cy="183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4512469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fuses heterogeneous student data through specialized models and an explainability layer, delivering interpretable risk scores to educators in real time.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500583"/>
            <a:ext cx="730076" cy="182761"/>
          </a:xfrm>
          <a:prstGeom prst="roundRect">
            <a:avLst>
              <a:gd name="adj" fmla="val 1954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59891" y="532433"/>
            <a:ext cx="1059731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715194"/>
            <a:ext cx="356361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System Matters</a:t>
            </a:r>
            <a:endParaRPr lang="en-US" sz="2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167036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1479277"/>
            <a:ext cx="134667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Prediction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96119" y="1693143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Fuses tabular, behavioral, and textual data for richer, more accurate risk modeling than single-source approaches.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150269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46251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96119" y="2676376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SHAP-based transparency builds educator trust and supports evidence-driven, actionable interventions.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133502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445743"/>
            <a:ext cx="141304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Full-Stack Deployment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96119" y="3659609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FastAPI + PostgreSQL on AWS — production-grade, scalable, and cloud-ready from day one.</a:t>
            </a:r>
            <a:endParaRPr lang="en-US" sz="8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3967907"/>
            <a:ext cx="212601" cy="212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28014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Ethical AI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96119" y="4494014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with fairness auditing and bias mitigation principles embedded throughout the pipeline.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874"/>
            <a:ext cx="1222772" cy="214759"/>
          </a:xfrm>
          <a:prstGeom prst="roundRect">
            <a:avLst>
              <a:gd name="adj" fmla="val 1885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29964"/>
            <a:ext cx="1535460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9560"/>
            <a:ext cx="512177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Platform Architecture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96118" y="1163892"/>
            <a:ext cx="815439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follows a clean, layered architecture — from raw student data ingestion through multimodal ML processing, explainability, and cloud-hosted delivery. Each layer is independently scalable and fault-tolerant, designed for production-grade reliability on AWS infrastructure.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0A4D5E-DC89-2718-B629-255398111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33"/>
          <a:stretch>
            <a:fillRect/>
          </a:stretch>
        </p:blipFill>
        <p:spPr>
          <a:xfrm>
            <a:off x="391886" y="1581354"/>
            <a:ext cx="8258627" cy="3562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0754"/>
            <a:ext cx="1327026" cy="214759"/>
          </a:xfrm>
          <a:prstGeom prst="roundRect">
            <a:avLst>
              <a:gd name="adj" fmla="val 1885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8375" y="476845"/>
            <a:ext cx="1639714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&amp; 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96441"/>
            <a:ext cx="62923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Performance: F1 Score Comparison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1760"/>
            <a:ext cx="3339554" cy="24037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3730" y="1328961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443" y="1632421"/>
            <a:ext cx="3943201" cy="9167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1357" y="1767185"/>
            <a:ext cx="2054870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Model: Fusion Ensemble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901357" y="2057846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=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0.85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outperforms all individual models, validating the multimodal approach.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443" y="2651596"/>
            <a:ext cx="3943201" cy="9167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01357" y="278636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Throughput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901357" y="3077021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 latency &lt;500ms · API response &lt;100ms · 100+ predictions/minute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443" y="3670771"/>
            <a:ext cx="3943201" cy="91678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01357" y="3805535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Production-Ready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901357" y="4096196"/>
            <a:ext cx="36165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under real-world load conditions on AWS cloud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02915"/>
            <a:ext cx="844748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45406"/>
            <a:ext cx="113183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26021"/>
            <a:ext cx="49221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System Constraints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1681609"/>
            <a:ext cx="2641774" cy="1308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18424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Dependency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14892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substantial historical training data; cold-start problem for new institutions.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681609"/>
            <a:ext cx="2641774" cy="13085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8424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 Scope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214892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English-only text support; multilingual student populations not yet covered.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6033" y="1681609"/>
            <a:ext cx="2641774" cy="13085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1842418"/>
            <a:ext cx="17778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Processing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3042" y="2148929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live streaming pipeline; batch-oriented inference only at present.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131939"/>
            <a:ext cx="2641774" cy="13085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4077" y="3292748"/>
            <a:ext cx="19899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Hardware Requirements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14077" y="359925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GPU preferred for Transformer/BERT inference; increases deployment cost.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3131939"/>
            <a:ext cx="2641774" cy="13085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78560" y="32927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Fairness &amp; Drift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478560" y="3599259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Fairness metrics depend on demographic data quality; periodic retraining needed for model drift.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9964"/>
            <a:ext cx="882700" cy="248692"/>
          </a:xfrm>
          <a:prstGeom prst="roundRect">
            <a:avLst>
              <a:gd name="adj" fmla="val 1819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6858" y="470297"/>
            <a:ext cx="1178421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29779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Modifications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2579"/>
            <a:ext cx="4075881" cy="538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734" y="200918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734" y="2296269"/>
            <a:ext cx="38066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Kafka-based streaming pipeline; live student engagement monitoring.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42579"/>
            <a:ext cx="4075881" cy="5386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6615" y="200918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MLOps Automation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06615" y="2296269"/>
            <a:ext cx="38066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retraining, drift detection, and CI/CD for model updates.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851026"/>
            <a:ext cx="4075881" cy="538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734" y="351762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Platform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734" y="3804717"/>
            <a:ext cx="38066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mobile app for students and educators; multi-language support.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51026"/>
            <a:ext cx="4075881" cy="5386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6615" y="351762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706615" y="3804717"/>
            <a:ext cx="3806651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Privacy-preserving cross-institutional training; built-in fairness auditing.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96119" y="4503390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phase builds toward a more robust, equitable, and scalable academic intelligence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8304"/>
            <a:ext cx="864989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000795"/>
            <a:ext cx="11520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8141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936998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2083519"/>
            <a:ext cx="21368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Production-Ready System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390031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developed and deployed a full-stack multimodal prediction platform on AWS.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936998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2083519"/>
            <a:ext cx="19576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Fusion Wins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239003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Fusion ensemble (F1 = 0.85) outperforms all single-model baselines, validating the approach.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31939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40" y="3278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640" y="3584972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SHAP-based transparency builds educator trust and enables actionable interventions.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31939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32784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&amp; Ethical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9363" y="3584972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Cloud-native architecture supports early intervention at institutional scale with fairness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9714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52737"/>
            <a:ext cx="4722763" cy="129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interest in our Multimodal Academic Performance Prediction System. I believe this system holds significant potential to foster student success and empower educators with actionable insights.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605</Words>
  <Application>Microsoft Office PowerPoint</Application>
  <PresentationFormat>On-screen Show (16:9)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Raleway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Manasi Narkhede</cp:lastModifiedBy>
  <cp:revision>4</cp:revision>
  <dcterms:created xsi:type="dcterms:W3CDTF">2026-05-29T07:44:19Z</dcterms:created>
  <dcterms:modified xsi:type="dcterms:W3CDTF">2026-05-29T08:36:58Z</dcterms:modified>
</cp:coreProperties>
</file>